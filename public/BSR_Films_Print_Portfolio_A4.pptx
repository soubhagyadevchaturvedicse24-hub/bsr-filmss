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sr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252000"/>
            <a:ext cx="342000" cy="159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2000" y="198000"/>
            <a:ext cx="4320000" cy="39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50" b="1">
                <a:solidFill>
                  <a:srgbClr val="0A0A0A"/>
                </a:solidFill>
                <a:latin typeface="Noto Sans Devanagari"/>
              </a:defRPr>
            </a:pPr>
            <a:r>
              <a:t>बी.एस.आर. फिल्मस</a:t>
            </a:r>
          </a:p>
          <a:p>
            <a:pPr>
              <a:defRPr sz="850" b="1">
                <a:solidFill>
                  <a:srgbClr val="8C4E00"/>
                </a:solidFill>
                <a:latin typeface="Noto Sans Devanagari"/>
              </a:defRPr>
            </a:pPr>
            <a:r>
              <a:t>फिल्म, टीवी, वृत्तचित्र एवं मीडिया प्रोडक्शन हाउस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00" y="216000"/>
            <a:ext cx="2304000" cy="39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819" b="1">
                <a:solidFill>
                  <a:srgbClr val="555555"/>
                </a:solidFill>
                <a:latin typeface="Noto Sans Devanagari"/>
              </a:defRPr>
            </a:pPr>
            <a:r>
              <a:t>25+ वर्ष मीडिया उत्कृष्टता</a:t>
            </a:r>
            <a:br/>
            <a:r>
              <a:t>संवाद 'ब' श्रेणी • NFDC एनलिस्टेड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630000"/>
            <a:ext cx="6768000" cy="21600"/>
          </a:xfrm>
          <a:prstGeom prst="rect">
            <a:avLst/>
          </a:prstGeom>
          <a:solidFill>
            <a:srgbClr val="8C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6000" y="702000"/>
            <a:ext cx="6768000" cy="1260000"/>
          </a:xfrm>
          <a:prstGeom prst="rect">
            <a:avLst/>
          </a:prstGeom>
          <a:solidFill>
            <a:srgbClr val="FAF2E3"/>
          </a:solidFill>
          <a:ln w="19050">
            <a:solidFill>
              <a:srgbClr val="8C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m-aw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0" y="756000"/>
            <a:ext cx="846000" cy="113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6000" y="756000"/>
            <a:ext cx="846000" cy="1134000"/>
          </a:xfrm>
          <a:prstGeom prst="rect">
            <a:avLst/>
          </a:prstGeom>
          <a:noFill/>
          <a:ln w="15240">
            <a:solidFill>
              <a:srgbClr val="8C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4000" y="756000"/>
            <a:ext cx="5688000" cy="1152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1600">
                <a:solidFill>
                  <a:srgbClr val="0A0A0A"/>
                </a:solidFill>
                <a:latin typeface="Noto Sans Devanagari"/>
              </a:rPr>
              <a:t>बी.एस.आर. फिल्मस</a:t>
            </a:r>
            <a:r>
              <a:rPr sz="880">
                <a:solidFill>
                  <a:srgbClr val="8C4E00"/>
                </a:solidFill>
                <a:latin typeface="Noto Sans Devanagari"/>
              </a:rPr>
              <a:t>   •   सेंट्रल इंडिया का प्रतिष्ठित मीडिया प्रोडक्शन हाउस
</a:t>
            </a:r>
            <a:r>
              <a:rPr sz="819">
                <a:solidFill>
                  <a:srgbClr val="1A1A1A"/>
                </a:solidFill>
                <a:latin typeface="Noto Sans Devanagari"/>
              </a:rPr>
              <a:t>माननीय मुख्यमंत्री श्री विष्णु देव साय जी द्वारा सम्मानित • 'दीदी के गोठ' राज्य कार्यक्रम
संस्कृति, सृजनात्मकता एवं प्रसारण तकनीक का 25+ वर्षों का अटूट विश्वास।
</a:t>
            </a:r>
            <a:r>
              <a:rPr sz="750">
                <a:solidFill>
                  <a:srgbClr val="8C4E00"/>
                </a:solidFill>
                <a:latin typeface="Noto Sans Devanagari"/>
              </a:rPr>
              <a:t>[छत्तीसगढ़ संवाद 'ब' श्रेणी]  [NFDC एनलिस्टेड (निदेशक अनुबंध)]  [दूरदर्शन वीडियो स्पॉट]  [आकाशवाणी 06 केंद्र]  [केंद्रीय विक्रय एकांश]  [MSME]</a:t>
            </a:r>
          </a:p>
        </p:txBody>
      </p:sp>
      <p:pic>
        <p:nvPicPr>
          <p:cNvPr id="10" name="Picture 9" descr="bsr-logo-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000" y="756000"/>
            <a:ext cx="1044000" cy="399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6000" y="2034000"/>
            <a:ext cx="6768000" cy="19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>
                <a:solidFill>
                  <a:srgbClr val="0A0A0A"/>
                </a:solidFill>
                <a:latin typeface="Noto Sans Devanagari"/>
              </a:rPr>
              <a:t>प्रमुख सांख्यिकी एवं उपलब्धियां</a:t>
            </a:r>
            <a:r>
              <a:rPr sz="850">
                <a:solidFill>
                  <a:srgbClr val="8C4E00"/>
                </a:solidFill>
                <a:latin typeface="Noto Sans Devanagari"/>
              </a:rPr>
              <a:t>  —  प्रमाणित मीडिया परिमाण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2232000"/>
            <a:ext cx="6768000" cy="14400"/>
          </a:xfrm>
          <a:prstGeom prst="rect">
            <a:avLst/>
          </a:prstGeom>
          <a:solidFill>
            <a:srgbClr val="8C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6000" y="2286000"/>
            <a:ext cx="2196000" cy="486000"/>
          </a:xfrm>
          <a:prstGeom prst="rect">
            <a:avLst/>
          </a:prstGeom>
          <a:solidFill>
            <a:srgbClr val="FAF6F0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000" y="2286000"/>
            <a:ext cx="2196000" cy="486000"/>
          </a:xfrm>
          <a:prstGeom prst="rect">
            <a:avLst/>
          </a:prstGeom>
          <a:noFill/>
        </p:spPr>
        <p:txBody>
          <a:bodyPr wrap="square" tIns="18000" bIns="18000" lIns="18000" rIns="18000">
            <a:spAutoFit/>
          </a:bodyPr>
          <a:lstStyle/>
          <a:p>
            <a:pPr algn="ctr"/>
            <a:r>
              <a:rPr sz="1300">
                <a:solidFill>
                  <a:srgbClr val="8C4E00"/>
                </a:solidFill>
                <a:latin typeface="Noto Sans Devanagari"/>
              </a:rPr>
              <a:t>650+  </a:t>
            </a:r>
            <a:r>
              <a:rPr sz="819">
                <a:solidFill>
                  <a:srgbClr val="0A0A0A"/>
                </a:solidFill>
                <a:latin typeface="Noto Sans Devanagari"/>
              </a:rPr>
              <a:t>विज्ञापन स्पॉट्स
</a:t>
            </a:r>
            <a:r>
              <a:rPr sz="700">
                <a:solidFill>
                  <a:srgbClr val="555555"/>
                </a:solidFill>
                <a:latin typeface="Noto Sans Devanagari"/>
              </a:rPr>
              <a:t>Commercial Ads &amp; Promos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82000" y="2286000"/>
            <a:ext cx="2196000" cy="486000"/>
          </a:xfrm>
          <a:prstGeom prst="rect">
            <a:avLst/>
          </a:prstGeom>
          <a:solidFill>
            <a:srgbClr val="FAF6F0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2000" y="2286000"/>
            <a:ext cx="2196000" cy="486000"/>
          </a:xfrm>
          <a:prstGeom prst="rect">
            <a:avLst/>
          </a:prstGeom>
          <a:noFill/>
        </p:spPr>
        <p:txBody>
          <a:bodyPr wrap="square" tIns="18000" bIns="18000" lIns="18000" rIns="18000">
            <a:spAutoFit/>
          </a:bodyPr>
          <a:lstStyle/>
          <a:p>
            <a:pPr algn="ctr"/>
            <a:r>
              <a:rPr sz="1300">
                <a:solidFill>
                  <a:srgbClr val="8C4E00"/>
                </a:solidFill>
                <a:latin typeface="Noto Sans Devanagari"/>
              </a:rPr>
              <a:t>350+  </a:t>
            </a:r>
            <a:r>
              <a:rPr sz="819">
                <a:solidFill>
                  <a:srgbClr val="0A0A0A"/>
                </a:solidFill>
                <a:latin typeface="Noto Sans Devanagari"/>
              </a:rPr>
              <a:t>वृत्तचित्र निर्माण
</a:t>
            </a:r>
            <a:r>
              <a:rPr sz="700">
                <a:solidFill>
                  <a:srgbClr val="555555"/>
                </a:solidFill>
                <a:latin typeface="Noto Sans Devanagari"/>
              </a:rPr>
              <a:t>Research Documentaries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68000" y="2286000"/>
            <a:ext cx="2196000" cy="486000"/>
          </a:xfrm>
          <a:prstGeom prst="rect">
            <a:avLst/>
          </a:prstGeom>
          <a:solidFill>
            <a:srgbClr val="FAF6F0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8000" y="2286000"/>
            <a:ext cx="2196000" cy="486000"/>
          </a:xfrm>
          <a:prstGeom prst="rect">
            <a:avLst/>
          </a:prstGeom>
          <a:noFill/>
        </p:spPr>
        <p:txBody>
          <a:bodyPr wrap="square" tIns="18000" bIns="18000" lIns="18000" rIns="18000">
            <a:spAutoFit/>
          </a:bodyPr>
          <a:lstStyle/>
          <a:p>
            <a:pPr algn="ctr"/>
            <a:r>
              <a:rPr sz="1300">
                <a:solidFill>
                  <a:srgbClr val="8C4E00"/>
                </a:solidFill>
                <a:latin typeface="Noto Sans Devanagari"/>
              </a:rPr>
              <a:t>500+  </a:t>
            </a:r>
            <a:r>
              <a:rPr sz="819">
                <a:solidFill>
                  <a:srgbClr val="0A0A0A"/>
                </a:solidFill>
                <a:latin typeface="Noto Sans Devanagari"/>
              </a:rPr>
              <a:t>ऑडियो कार्यक्रम
</a:t>
            </a:r>
            <a:r>
              <a:rPr sz="700">
                <a:solidFill>
                  <a:srgbClr val="555555"/>
                </a:solidFill>
                <a:latin typeface="Noto Sans Devanagari"/>
              </a:rPr>
              <a:t>Jingles &amp; Radio Serials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000" y="2826000"/>
            <a:ext cx="2196000" cy="486000"/>
          </a:xfrm>
          <a:prstGeom prst="rect">
            <a:avLst/>
          </a:prstGeom>
          <a:solidFill>
            <a:srgbClr val="FAF6F0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000" y="2826000"/>
            <a:ext cx="2196000" cy="486000"/>
          </a:xfrm>
          <a:prstGeom prst="rect">
            <a:avLst/>
          </a:prstGeom>
          <a:noFill/>
        </p:spPr>
        <p:txBody>
          <a:bodyPr wrap="square" tIns="18000" bIns="18000" lIns="18000" rIns="18000">
            <a:spAutoFit/>
          </a:bodyPr>
          <a:lstStyle/>
          <a:p>
            <a:pPr algn="ctr"/>
            <a:r>
              <a:rPr sz="1300">
                <a:solidFill>
                  <a:srgbClr val="8C4E00"/>
                </a:solidFill>
                <a:latin typeface="Noto Sans Devanagari"/>
              </a:rPr>
              <a:t>400+  </a:t>
            </a:r>
            <a:r>
              <a:rPr sz="819">
                <a:solidFill>
                  <a:srgbClr val="0A0A0A"/>
                </a:solidFill>
                <a:latin typeface="Noto Sans Devanagari"/>
              </a:rPr>
              <a:t>रेडियो जिंगल्स
</a:t>
            </a:r>
            <a:r>
              <a:rPr sz="700">
                <a:solidFill>
                  <a:srgbClr val="555555"/>
                </a:solidFill>
                <a:latin typeface="Noto Sans Devanagari"/>
              </a:rPr>
              <a:t>शासकीय, निगम व कॉर्पोरेट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82000" y="2826000"/>
            <a:ext cx="2196000" cy="486000"/>
          </a:xfrm>
          <a:prstGeom prst="rect">
            <a:avLst/>
          </a:prstGeom>
          <a:solidFill>
            <a:srgbClr val="FAF6F0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82000" y="2826000"/>
            <a:ext cx="2196000" cy="486000"/>
          </a:xfrm>
          <a:prstGeom prst="rect">
            <a:avLst/>
          </a:prstGeom>
          <a:noFill/>
        </p:spPr>
        <p:txBody>
          <a:bodyPr wrap="square" tIns="18000" bIns="18000" lIns="18000" rIns="18000">
            <a:spAutoFit/>
          </a:bodyPr>
          <a:lstStyle/>
          <a:p>
            <a:pPr algn="ctr"/>
            <a:r>
              <a:rPr sz="1300">
                <a:solidFill>
                  <a:srgbClr val="8C4E00"/>
                </a:solidFill>
                <a:latin typeface="Noto Sans Devanagari"/>
              </a:rPr>
              <a:t>32+  </a:t>
            </a:r>
            <a:r>
              <a:rPr sz="819">
                <a:solidFill>
                  <a:srgbClr val="0A0A0A"/>
                </a:solidFill>
                <a:latin typeface="Noto Sans Devanagari"/>
              </a:rPr>
              <a:t>वर्ष मीडिया अनुभव
</a:t>
            </a:r>
            <a:r>
              <a:rPr sz="700">
                <a:solidFill>
                  <a:srgbClr val="555555"/>
                </a:solidFill>
                <a:latin typeface="Noto Sans Devanagari"/>
              </a:rPr>
              <a:t>Industry Leadership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68000" y="2826000"/>
            <a:ext cx="2196000" cy="486000"/>
          </a:xfrm>
          <a:prstGeom prst="rect">
            <a:avLst/>
          </a:prstGeom>
          <a:solidFill>
            <a:srgbClr val="FAF6F0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8000" y="2826000"/>
            <a:ext cx="2196000" cy="486000"/>
          </a:xfrm>
          <a:prstGeom prst="rect">
            <a:avLst/>
          </a:prstGeom>
          <a:noFill/>
        </p:spPr>
        <p:txBody>
          <a:bodyPr wrap="square" tIns="18000" bIns="18000" lIns="18000" rIns="18000">
            <a:spAutoFit/>
          </a:bodyPr>
          <a:lstStyle/>
          <a:p>
            <a:pPr algn="ctr"/>
            <a:r>
              <a:rPr sz="1300">
                <a:solidFill>
                  <a:srgbClr val="8C4E00"/>
                </a:solidFill>
                <a:latin typeface="Noto Sans Devanagari"/>
              </a:rPr>
              <a:t>10+  </a:t>
            </a:r>
            <a:r>
              <a:rPr sz="819">
                <a:solidFill>
                  <a:srgbClr val="0A0A0A"/>
                </a:solidFill>
                <a:latin typeface="Noto Sans Devanagari"/>
              </a:rPr>
              <a:t>एनिमेशन व ग्राफिक्स
</a:t>
            </a:r>
            <a:r>
              <a:rPr sz="700">
                <a:solidFill>
                  <a:srgbClr val="555555"/>
                </a:solidFill>
                <a:latin typeface="Noto Sans Devanagari"/>
              </a:rPr>
              <a:t>2D / 3D Motion VFX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000" y="3438000"/>
            <a:ext cx="6768000" cy="19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>
                <a:solidFill>
                  <a:srgbClr val="0A0A0A"/>
                </a:solidFill>
                <a:latin typeface="Noto Sans Devanagari"/>
              </a:rPr>
              <a:t>व्यावसायिक मीडिया सेवाएं — 6 प्रमुख कार्यक्षेत्र</a:t>
            </a:r>
            <a:r>
              <a:rPr sz="850">
                <a:solidFill>
                  <a:srgbClr val="8C4E00"/>
                </a:solidFill>
                <a:latin typeface="Noto Sans Devanagari"/>
              </a:rPr>
              <a:t>  —  स्क्रिप्ट से स्क्रीन तक सम्पूर्ण इन-हाउस निर्माण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000" y="3636000"/>
            <a:ext cx="6768000" cy="14400"/>
          </a:xfrm>
          <a:prstGeom prst="rect">
            <a:avLst/>
          </a:prstGeom>
          <a:solidFill>
            <a:srgbClr val="8C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6000" y="3690000"/>
            <a:ext cx="3330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000" y="3708000"/>
            <a:ext cx="3258000" cy="900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740">
                <a:solidFill>
                  <a:srgbClr val="8C4E00"/>
                </a:solidFill>
                <a:latin typeface="Noto Sans Devanagari"/>
              </a:rPr>
              <a:t>① • शोध एवं विकास [350+ निर्मित]
</a:t>
            </a:r>
            <a:r>
              <a:rPr sz="860">
                <a:solidFill>
                  <a:srgbClr val="8C4E00"/>
                </a:solidFill>
                <a:latin typeface="Noto Sans Devanagari"/>
              </a:rPr>
              <a:t>वृत्तचित्र निर्माण (Documentary Films)
</a:t>
            </a:r>
            <a:r>
              <a:rPr sz="760">
                <a:solidFill>
                  <a:srgbClr val="1A1A1A"/>
                </a:solidFill>
                <a:latin typeface="Noto Sans Devanagari"/>
              </a:rPr>
              <a:t>शोध-आधारित, सामाजिक, जनजातीय एवं विकासात्मक डाक्यूमेंट्रीज। राज्य शासन व अंतरराष्ट्रीय संस्थाओं की फ्लैगशिप योजनाओं का प्रामाणिक दस्तावेजीकरण।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34000" y="3690000"/>
            <a:ext cx="3330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70000" y="3708000"/>
            <a:ext cx="3258000" cy="900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740">
                <a:solidFill>
                  <a:srgbClr val="8C4E00"/>
                </a:solidFill>
                <a:latin typeface="Noto Sans Devanagari"/>
              </a:rPr>
              <a:t>② • शासकीय / कॉर्पोरेट संचार [650+ निर्मित]
</a:t>
            </a:r>
            <a:r>
              <a:rPr sz="860">
                <a:solidFill>
                  <a:srgbClr val="8C4E00"/>
                </a:solidFill>
                <a:latin typeface="Noto Sans Devanagari"/>
              </a:rPr>
              <a:t>विज्ञापन व वीडियो स्पॉट्स (Commercials)
</a:t>
            </a:r>
            <a:r>
              <a:rPr sz="760">
                <a:solidFill>
                  <a:srgbClr val="1A1A1A"/>
                </a:solidFill>
                <a:latin typeface="Noto Sans Devanagari"/>
              </a:rPr>
              <a:t>हाई-इम्पैक्ट टीवी कमर्शियल्स, विज्ञापन, डिजिटल प्रोमोज एवं सोशल मीडिया रील्स। शासकीय योजनाओं व ब्रांड्स हेतु सशक्त विजुअल स्टोरीटेलिंग।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6000" y="4680000"/>
            <a:ext cx="3330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000" y="4698000"/>
            <a:ext cx="3258000" cy="900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740">
                <a:solidFill>
                  <a:srgbClr val="8C4E00"/>
                </a:solidFill>
                <a:latin typeface="Noto Sans Devanagari"/>
              </a:rPr>
              <a:t>③ • साउंड एवं ब्रॉडकास्ट [500+ निर्मित]
</a:t>
            </a:r>
            <a:r>
              <a:rPr sz="860">
                <a:solidFill>
                  <a:srgbClr val="8C4E00"/>
                </a:solidFill>
                <a:latin typeface="Noto Sans Devanagari"/>
              </a:rPr>
              <a:t>ऑडियो कार्यक्रम व जिंगल्स (Audio Jingles)
</a:t>
            </a:r>
            <a:r>
              <a:rPr sz="760">
                <a:solidFill>
                  <a:srgbClr val="1A1A1A"/>
                </a:solidFill>
                <a:latin typeface="Noto Sans Devanagari"/>
              </a:rPr>
              <a:t>रेडियो जिंगल्स, जन-जागरूकता धारावाहिक, लोकगीत व पॉडकास्ट। आकाशवाणी के 6 केंद्रों हेतु विशेष ऑडियो कंटेंट, साउंड डिजाइनिंग व प्रभावी प्रसारण।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34000" y="4680000"/>
            <a:ext cx="3330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70000" y="4698000"/>
            <a:ext cx="3258000" cy="900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740">
                <a:solidFill>
                  <a:srgbClr val="8C4E00"/>
                </a:solidFill>
                <a:latin typeface="Noto Sans Devanagari"/>
              </a:rPr>
              <a:t>④ • विजुअल इफेक्ट्स [10+ प्रोजेक्ट्स]
</a:t>
            </a:r>
            <a:r>
              <a:rPr sz="860">
                <a:solidFill>
                  <a:srgbClr val="8C4E00"/>
                </a:solidFill>
                <a:latin typeface="Noto Sans Devanagari"/>
              </a:rPr>
              <a:t>2D / 3D एनिमेशन व वीएफएक्स (Animation)
</a:t>
            </a:r>
            <a:r>
              <a:rPr sz="760">
                <a:solidFill>
                  <a:srgbClr val="1A1A1A"/>
                </a:solidFill>
                <a:latin typeface="Noto Sans Devanagari"/>
              </a:rPr>
              <a:t>एक्सप्लेनर वीडियो, 3D आर्किटेक्चरल वॉकथ्रू, मोशन इंफोग्राफिक्स, कैरेक्टर एनीमेशन एवं उन्नत वीएफएक्स जो जटिल संदेशों को सहज बनाते हैं।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6000" y="5670000"/>
            <a:ext cx="3330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000" y="5688000"/>
            <a:ext cx="3258000" cy="900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740">
                <a:solidFill>
                  <a:srgbClr val="8C4E00"/>
                </a:solidFill>
                <a:latin typeface="Noto Sans Devanagari"/>
              </a:rPr>
              <a:t>⑤ • रेडियो प्रचार प्रसार [400+ जिंगल्स]
</a:t>
            </a:r>
            <a:r>
              <a:rPr sz="860">
                <a:solidFill>
                  <a:srgbClr val="8C4E00"/>
                </a:solidFill>
                <a:latin typeface="Noto Sans Devanagari"/>
              </a:rPr>
              <a:t>रेडियो जिंगल्स निर्माण (Radio Jingles)
</a:t>
            </a:r>
            <a:r>
              <a:rPr sz="760">
                <a:solidFill>
                  <a:srgbClr val="1A1A1A"/>
                </a:solidFill>
                <a:latin typeface="Noto Sans Devanagari"/>
              </a:rPr>
              <a:t>400+ रेडियो जिंगल्स का निर्माण विभिन्न शासकीय विभागों, निगमों, मंडलों एवं कॉर्पोरेट संस्थानों हेतु आकाशवाणी द्वारा व्यापक प्रसारण।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34000" y="5670000"/>
            <a:ext cx="3330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70000" y="5688000"/>
            <a:ext cx="3258000" cy="900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740">
                <a:solidFill>
                  <a:srgbClr val="8C4E00"/>
                </a:solidFill>
                <a:latin typeface="Noto Sans Devanagari"/>
              </a:rPr>
              <a:t>⑥ • लाइव इवेंट्स कवरेज [4K मल्टी-कैमरा]
</a:t>
            </a:r>
            <a:r>
              <a:rPr sz="860">
                <a:solidFill>
                  <a:srgbClr val="8C4E00"/>
                </a:solidFill>
                <a:latin typeface="Noto Sans Devanagari"/>
              </a:rPr>
              <a:t>मल्टी-कैमरा लाइव प्रसारण (Multi-Cam Live)
</a:t>
            </a:r>
            <a:r>
              <a:rPr sz="760">
                <a:solidFill>
                  <a:srgbClr val="1A1A1A"/>
                </a:solidFill>
                <a:latin typeface="Noto Sans Devanagari"/>
              </a:rPr>
              <a:t>राज्योत्सव, राष्ट्रीय सम्मेलनों, शासकीय उत्सवों, खेल व सांस्कृतिक समारोहों का 4K मल्टी-कैमरा ब्रॉडकास्ट सेटअप एवं सीमलेस लाइव वेबकास्टिंग।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6000" y="6732000"/>
            <a:ext cx="6768000" cy="792000"/>
          </a:xfrm>
          <a:prstGeom prst="rect">
            <a:avLst/>
          </a:prstGeom>
          <a:solidFill>
            <a:srgbClr val="FAF6F0"/>
          </a:solidFill>
          <a:ln w="12700">
            <a:solidFill>
              <a:srgbClr val="8C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000" y="6750000"/>
            <a:ext cx="3312000" cy="756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800">
                <a:solidFill>
                  <a:srgbClr val="8C4E00"/>
                </a:solidFill>
                <a:latin typeface="Noto Sans Devanagari"/>
              </a:rPr>
              <a:t>सिनेमा उपकरण एवं लाइटिंग:
</a:t>
            </a:r>
            <a:r>
              <a:rPr sz="750">
                <a:solidFill>
                  <a:srgbClr val="1A1A1A"/>
                </a:solidFill>
                <a:latin typeface="Noto Sans Devanagari"/>
              </a:rPr>
              <a:t>• Sony FX Cinema Line / FX6 / FX3, Blackmagic 6K Pro, सिने प्राइम लेंस, Ronin RS3 Pro।
• Aputure, Godox Pro LED पैनल्स, 1200W/600W COB, कटर्स एवं जनरेटर बैकअप।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0000" y="6750000"/>
            <a:ext cx="3312000" cy="756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800">
                <a:solidFill>
                  <a:srgbClr val="8C4E00"/>
                </a:solidFill>
                <a:latin typeface="Noto Sans Devanagari"/>
              </a:rPr>
              <a:t>साउंड स्टूडियो एवं पोस्ट-प्रोडक्शन:
</a:t>
            </a:r>
            <a:r>
              <a:rPr sz="750">
                <a:solidFill>
                  <a:srgbClr val="1A1A1A"/>
                </a:solidFill>
                <a:latin typeface="Noto Sans Devanagari"/>
              </a:rPr>
              <a:t>• पूर्णतः एकॉस्टिक साउंडप्रूफ स्टूडियो, Neumann U87 / Sennheiser माइक्स, ProTools DAW।
• Apple Mac Studio, DaVinci Resolve Studio 4K HDR, DJI 4K/5.1K सिनेमैटिक ड्रोन।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6000" y="7596000"/>
            <a:ext cx="6768000" cy="612000"/>
          </a:xfrm>
          <a:prstGeom prst="rect">
            <a:avLst/>
          </a:prstGeom>
          <a:solidFill>
            <a:srgbClr val="FAF2E3"/>
          </a:solidFill>
          <a:ln w="12700">
            <a:solidFill>
              <a:srgbClr val="8C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000" y="7614000"/>
            <a:ext cx="6624000" cy="576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819">
                <a:solidFill>
                  <a:srgbClr val="8C4E00"/>
                </a:solidFill>
                <a:latin typeface="Noto Sans Devanagari"/>
              </a:rPr>
              <a:t>कार्यालय एवं प्रोडक्शन स्टूडियो:  </a:t>
            </a:r>
            <a:r>
              <a:rPr sz="780">
                <a:solidFill>
                  <a:srgbClr val="1A1A1A"/>
                </a:solidFill>
                <a:latin typeface="Noto Sans Devanagari"/>
              </a:rPr>
              <a:t>राजकुमार कॉलेज के पीछे, सोनकर बड़ी, अश्वनी नगर रायपुर, पोस्ट सुंदर नगर , पिन - 492013 (छ.ग.)
</a:t>
            </a:r>
            <a:r>
              <a:rPr sz="780">
                <a:solidFill>
                  <a:srgbClr val="0A0A0A"/>
                </a:solidFill>
                <a:latin typeface="Noto Sans Devanagari"/>
              </a:rPr>
              <a:t>दूरभाष: +91 7000866323, +91 9826167533   •   ईमेल: bsrfilms2017@gmail.com   •   वेबसाइट: www.bsrfilms.com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6000" y="8280000"/>
            <a:ext cx="6768000" cy="504000"/>
          </a:xfrm>
          <a:prstGeom prst="rect">
            <a:avLst/>
          </a:prstGeom>
          <a:solidFill>
            <a:srgbClr val="FAF6F0"/>
          </a:solidFill>
          <a:ln w="12700">
            <a:solidFill>
              <a:srgbClr val="8C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rest_300d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" y="8316000"/>
            <a:ext cx="432000" cy="432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72000" y="8298000"/>
            <a:ext cx="6120000" cy="468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800">
                <a:solidFill>
                  <a:srgbClr val="8C4E00"/>
                </a:solidFill>
                <a:latin typeface="Noto Sans Devanagari"/>
              </a:rPr>
              <a:t>25+ वर्षों की अनवरत मीडिया उत्कृष्टता एवं विश्वसनीयता: </a:t>
            </a:r>
            <a:r>
              <a:rPr sz="760">
                <a:solidFill>
                  <a:srgbClr val="1A1A1A"/>
                </a:solidFill>
                <a:latin typeface="Noto Sans Devanagari"/>
              </a:rPr>
              <a:t>बी.एस.आर. फिल्मस मध्य भारत का अग्रणी प्रोडक्शन हाउस है, जो शासकीय एवं कॉर्पोरेट क्षेत्र में उच्च-गुणवत्ता पूर्ण फिल्म निर्माण, विज्ञापन एवं व्यापक प्रसारण अभियानों हेतु पूर्णतः समर्पित व प्रमाणित है।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6000" y="10368000"/>
            <a:ext cx="6768000" cy="10800"/>
          </a:xfrm>
          <a:prstGeom prst="rect">
            <a:avLst/>
          </a:prstGeom>
          <a:solidFill>
            <a:srgbClr val="D6C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6000" y="10404000"/>
            <a:ext cx="5040000" cy="1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780" b="1">
                <a:solidFill>
                  <a:srgbClr val="8C4E00"/>
                </a:solidFill>
                <a:latin typeface="Noto Sans Devanagari"/>
              </a:defRPr>
            </a:pPr>
            <a:r>
              <a:t>बी.एस.आर. फिल्मस • आधिकारिक कॉरपोरेट प्रोफाइल • www.bsrfilms.com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80000" y="10404000"/>
            <a:ext cx="1584000" cy="1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780" b="1">
                <a:solidFill>
                  <a:srgbClr val="0A0A0A"/>
                </a:solidFill>
                <a:latin typeface="Noto Sans Devanagari"/>
              </a:defRPr>
            </a:pPr>
            <a:r>
              <a:t>पृष्ठ 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sr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252000"/>
            <a:ext cx="342000" cy="159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2000" y="198000"/>
            <a:ext cx="4320000" cy="39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50" b="1">
                <a:solidFill>
                  <a:srgbClr val="0A0A0A"/>
                </a:solidFill>
                <a:latin typeface="Noto Sans Devanagari"/>
              </a:defRPr>
            </a:pPr>
            <a:r>
              <a:t>बी.एस.आर. फिल्मस</a:t>
            </a:r>
          </a:p>
          <a:p>
            <a:pPr>
              <a:defRPr sz="850" b="1">
                <a:solidFill>
                  <a:srgbClr val="8C4E00"/>
                </a:solidFill>
                <a:latin typeface="Noto Sans Devanagari"/>
              </a:defRPr>
            </a:pPr>
            <a:r>
              <a:t>संस्थापक नेतृत्व, प्रतिष्ठित क्लाइंट्स एवं प्रमाणीकरण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00" y="216000"/>
            <a:ext cx="2304000" cy="39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819" b="1">
                <a:solidFill>
                  <a:srgbClr val="555555"/>
                </a:solidFill>
                <a:latin typeface="Noto Sans Devanagari"/>
              </a:defRPr>
            </a:pPr>
            <a:r>
              <a:t>24+ प्रमुख संस्थाएं</a:t>
            </a:r>
            <a:br/>
            <a:r>
              <a:t>वैधानिक प्रमाणीकरण संचिका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630000"/>
            <a:ext cx="6768000" cy="21600"/>
          </a:xfrm>
          <a:prstGeom prst="rect">
            <a:avLst/>
          </a:prstGeom>
          <a:solidFill>
            <a:srgbClr val="8C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6000" y="702000"/>
            <a:ext cx="6768000" cy="1260000"/>
          </a:xfrm>
          <a:prstGeom prst="rect">
            <a:avLst/>
          </a:prstGeom>
          <a:solidFill>
            <a:srgbClr val="FAF2E3"/>
          </a:solidFill>
          <a:ln w="19050">
            <a:solidFill>
              <a:srgbClr val="8C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hish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0" y="756000"/>
            <a:ext cx="846000" cy="113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6000" y="756000"/>
            <a:ext cx="846000" cy="1134000"/>
          </a:xfrm>
          <a:prstGeom prst="rect">
            <a:avLst/>
          </a:prstGeom>
          <a:noFill/>
          <a:ln w="15240">
            <a:solidFill>
              <a:srgbClr val="8C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4000" y="738000"/>
            <a:ext cx="5688000" cy="1188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1450">
                <a:solidFill>
                  <a:srgbClr val="0A0A0A"/>
                </a:solidFill>
                <a:latin typeface="Noto Sans Devanagari"/>
              </a:rPr>
              <a:t>भीष्मदेव चतुर्वेदी  </a:t>
            </a:r>
            <a:r>
              <a:rPr sz="800">
                <a:solidFill>
                  <a:srgbClr val="8C4E00"/>
                </a:solidFill>
                <a:latin typeface="Noto Sans Devanagari"/>
              </a:rPr>
              <a:t>[एंकर / डायरेक्टर / राइटर • प्रोड्यूसर]
</a:t>
            </a:r>
            <a:r>
              <a:rPr sz="880">
                <a:solidFill>
                  <a:srgbClr val="8C4E00"/>
                </a:solidFill>
                <a:latin typeface="Noto Sans Devanagari"/>
              </a:rPr>
              <a:t>संस्थापक, मुख्य निर्माता एवं वरिष्ठ फिल्म निर्देशक
</a:t>
            </a:r>
            <a:r>
              <a:rPr sz="800">
                <a:solidFill>
                  <a:srgbClr val="1A1A1A"/>
                </a:solidFill>
                <a:latin typeface="Noto Sans Devanagari"/>
              </a:rPr>
              <a:t>32 से अधिक वर्षों से भारतीय सिनेमा, वृत्तचित्र एवं जनसंचार के क्षेत्र में सक्रिय सृजनात्मक नेतृत्व। राज्य एवं राष्ट्रीय स्तर पर सम्मानित मीडिया व्यक्तित्व।
</a:t>
            </a:r>
            <a:r>
              <a:rPr sz="740">
                <a:solidFill>
                  <a:srgbClr val="8C4E00"/>
                </a:solidFill>
                <a:latin typeface="Noto Sans Devanagari"/>
              </a:rPr>
              <a:t>[अनुमोदित एंकर / राइटर / 'ए' ग्रेड कलाकार (AIR व दूरदर्शन)]  [32+ वर्ष मीडिया अनुभव]  [विषयों के विशेषज्ञ]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2034000"/>
            <a:ext cx="6768000" cy="19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>
                <a:solidFill>
                  <a:srgbClr val="0A0A0A"/>
                </a:solidFill>
                <a:latin typeface="Noto Sans Devanagari"/>
              </a:rPr>
              <a:t>वैधानिक पंजीकरण, इम्पैनलमेंट एवं बैंकिंग साख</a:t>
            </a:r>
            <a:r>
              <a:rPr sz="850">
                <a:solidFill>
                  <a:srgbClr val="8C4E00"/>
                </a:solidFill>
                <a:latin typeface="Noto Sans Devanagari"/>
              </a:rPr>
              <a:t>  —  आधिकारिक अधिकृत संस्थाएं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2232000"/>
            <a:ext cx="6768000" cy="14400"/>
          </a:xfrm>
          <a:prstGeom prst="rect">
            <a:avLst/>
          </a:prstGeom>
          <a:solidFill>
            <a:srgbClr val="8C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6000" y="2286000"/>
            <a:ext cx="3330000" cy="828000"/>
          </a:xfrm>
          <a:prstGeom prst="rect">
            <a:avLst/>
          </a:prstGeom>
          <a:solidFill>
            <a:srgbClr val="FAF6F0"/>
          </a:solidFill>
          <a:ln w="10160">
            <a:solidFill>
              <a:srgbClr val="8C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2304000"/>
            <a:ext cx="3258000" cy="792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800">
                <a:solidFill>
                  <a:srgbClr val="8C4E00"/>
                </a:solidFill>
                <a:latin typeface="Noto Sans Devanagari"/>
              </a:rPr>
              <a:t>शासकीय एवं राष्ट्रीय इम्पैनलमेंट:
</a:t>
            </a:r>
            <a:r>
              <a:rPr sz="750">
                <a:solidFill>
                  <a:srgbClr val="1A1A1A"/>
                </a:solidFill>
                <a:latin typeface="Noto Sans Devanagari"/>
              </a:rPr>
              <a:t>• छत्तीसगढ़ संवाद: 'ब' श्रेणी अधिकृत प्रोडक्शन हाउस।
• NFDC: राष्ट्रीय फिल्म विकास निगम एनलिस्टेड (निदेशक अनुबंध)।
• दूरदर्शन व आकाशवाणी: वीडियो स्पॉट एवं 06 केंद्र प्रसारण अनुबंध।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34000" y="2286000"/>
            <a:ext cx="3330000" cy="828000"/>
          </a:xfrm>
          <a:prstGeom prst="rect">
            <a:avLst/>
          </a:prstGeom>
          <a:solidFill>
            <a:srgbClr val="FAF6F0"/>
          </a:solidFill>
          <a:ln w="10160">
            <a:solidFill>
              <a:srgbClr val="8C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0000" y="2304000"/>
            <a:ext cx="3258000" cy="792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800">
                <a:solidFill>
                  <a:srgbClr val="8C4E00"/>
                </a:solidFill>
                <a:latin typeface="Noto Sans Devanagari"/>
              </a:rPr>
              <a:t>वैधानिक अनुपालन एवं बैंकिंग:
</a:t>
            </a:r>
            <a:r>
              <a:rPr sz="750">
                <a:solidFill>
                  <a:srgbClr val="1A1A1A"/>
                </a:solidFill>
                <a:latin typeface="Noto Sans Devanagari"/>
              </a:rPr>
              <a:t>• आयकर (PAN) व GST: नियमित टैक्स फाइलिंग व इनवॉइसिंग सक्षम।
• ट्रेड लाइसेंस व MSME: नगर निगम गुमाश्ता व सूक्ष्म-लघु उद्योग पंजीकृत।
• बैंकिंग पार्टनर: बैंक ऑफ बड़ौदा (Bank of Baroda) चालू खाता।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" y="3186000"/>
            <a:ext cx="6768000" cy="19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>
                <a:solidFill>
                  <a:srgbClr val="0A0A0A"/>
                </a:solidFill>
                <a:latin typeface="Noto Sans Devanagari"/>
              </a:rPr>
              <a:t>विश्वसनीय भागीदारी — प्रतिष्ठित संस्थाएं एवं शासकीय विभाग</a:t>
            </a:r>
            <a:r>
              <a:rPr sz="850">
                <a:solidFill>
                  <a:srgbClr val="8C4E00"/>
                </a:solidFill>
                <a:latin typeface="Noto Sans Devanagari"/>
              </a:rPr>
              <a:t>  —  24+ प्रमाणित संस्थाएं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6000" y="3384000"/>
            <a:ext cx="6768000" cy="14400"/>
          </a:xfrm>
          <a:prstGeom prst="rect">
            <a:avLst/>
          </a:prstGeom>
          <a:solidFill>
            <a:srgbClr val="8C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6000" y="3438000"/>
            <a:ext cx="6768000" cy="79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" y="3456000"/>
            <a:ext cx="6624000" cy="756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800">
                <a:solidFill>
                  <a:srgbClr val="8C4E00"/>
                </a:solidFill>
                <a:latin typeface="Noto Sans Devanagari"/>
              </a:rPr>
              <a:t>अंतर्राष्ट्रीय एवं राष्ट्रीय संगठन (10 संस्थाएं) • [वित्त पोषित सर्व शिक्षा]:
</a:t>
            </a:r>
            <a:r>
              <a:rPr sz="740">
                <a:solidFill>
                  <a:srgbClr val="0A0A0A"/>
                </a:solidFill>
                <a:latin typeface="Noto Sans Devanagari"/>
              </a:rPr>
              <a:t>[World Bank]  [NABARD]  [UNICEF]  [SHRC]  [CHRI]  [IFFCO]  [Birla Group]  [DDUGKY]  [SRLM]  [PRIYA NGO]
</a:t>
            </a:r>
            <a:r>
              <a:rPr sz="720">
                <a:solidFill>
                  <a:srgbClr val="555555"/>
                </a:solidFill>
                <a:latin typeface="Noto Sans Devanagari"/>
              </a:rPr>
              <a:t>विश्व बैंक, यूनिसेफ, नाबार्ड व बिड़ला ग्रुप जैसी वैश्विक संस्थाओं हेतु विकास, स्वास्थ्य व आजीविका आधारित वृत्तचित्र व वीडियो स्पॉट्स का निर्माण।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4302000"/>
            <a:ext cx="6768000" cy="151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000" y="4320000"/>
            <a:ext cx="6624000" cy="1476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800">
                <a:solidFill>
                  <a:srgbClr val="8C4E00"/>
                </a:solidFill>
                <a:latin typeface="Noto Sans Devanagari"/>
              </a:rPr>
              <a:t>शासकीय विभाग, आयोग एवं राज्य संस्थाएं (22+ विभाग):
</a:t>
            </a:r>
            <a:r>
              <a:rPr sz="740">
                <a:solidFill>
                  <a:srgbClr val="0A0A0A"/>
                </a:solidFill>
                <a:latin typeface="Noto Sans Devanagari"/>
              </a:rPr>
              <a:t>[जनसंपर्क विभाग (DPR)]  [श्रम विभाग]  [पंचायत एवं ग्रामीण विकास]  [लोक स्वास्थ्य यांत्रिकी (PHED)]  [स्वास्थ्य एवं परिवार कल्याण]  [महिला एवं बाल विकास]  [स्कूल शिक्षा विभाग]  [जल संसाधन]  [कृषि विकास]  [वन विभाग]  [समाज कल्याण]  [छत्तीसगढ़ पुलिस (CG Police)]  [छत्तीसगढ़ राज्य महिला आयोग]
★ नवीन जोड़े गए विभाग: [ट्राइबल विभाग]  [नाफेड (NAFED)]  [दिग्विजय कॉलेज]  [देवभोग दुग्ध महासंघ छ.ग.]  [योग आयोग]  [ठाकुर प्यारेलाल सिंह संस्थान निमोरा]  [छ.ग. राज्य स्वच्छ भारत मिशन]  [एड्स कंट्रोल सोसायटी]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000" y="5886000"/>
            <a:ext cx="3330000" cy="720000"/>
          </a:xfrm>
          <a:prstGeom prst="rect">
            <a:avLst/>
          </a:prstGeom>
          <a:solidFill>
            <a:srgbClr val="FAF6F0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5904000"/>
            <a:ext cx="3258000" cy="684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760">
                <a:solidFill>
                  <a:srgbClr val="8C4E00"/>
                </a:solidFill>
                <a:latin typeface="Noto Sans Devanagari"/>
              </a:rPr>
              <a:t>विधान सभा चुनाव 2013 • [06 आकाशवाणी केंद्र]:
</a:t>
            </a:r>
            <a:r>
              <a:rPr sz="720">
                <a:solidFill>
                  <a:srgbClr val="1A1A1A"/>
                </a:solidFill>
                <a:latin typeface="Noto Sans Devanagari"/>
              </a:rPr>
              <a:t>प्रदेश के 06 आकाशवाणी केन्द्रों से भाजपा चुनाव प्रचार हेतु रेडियो जिंगल निर्माण व व्यापक प्रसारण अनुबंधित एजेंसी (सर्व वित्त पोषित)।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34000" y="5886000"/>
            <a:ext cx="3330000" cy="720000"/>
          </a:xfrm>
          <a:prstGeom prst="rect">
            <a:avLst/>
          </a:prstGeom>
          <a:solidFill>
            <a:srgbClr val="FAF6F0"/>
          </a:solidFill>
          <a:ln w="10160">
            <a:solidFill>
              <a:srgbClr val="D6C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70000" y="5904000"/>
            <a:ext cx="3258000" cy="684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760">
                <a:solidFill>
                  <a:srgbClr val="8C4E00"/>
                </a:solidFill>
                <a:latin typeface="Noto Sans Devanagari"/>
              </a:rPr>
              <a:t>लोक सभा चुनाव 2014 • [06 आकाशवाणी केंद्र]:
</a:t>
            </a:r>
            <a:r>
              <a:rPr sz="720">
                <a:solidFill>
                  <a:srgbClr val="1A1A1A"/>
                </a:solidFill>
                <a:latin typeface="Noto Sans Devanagari"/>
              </a:rPr>
              <a:t>प्रदेश के 06 आकाशवाणी केन्द्रों से भाजपा चुनाव प्रचार हेतु रेडियो जिंगल निर्माण व राष्ट्रव्यापी प्रसारण समन्वय एजेंसी (सर्व वित्त पोषित)।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000" y="6678000"/>
            <a:ext cx="6768000" cy="19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>
                <a:solidFill>
                  <a:srgbClr val="0A0A0A"/>
                </a:solidFill>
                <a:latin typeface="Noto Sans Devanagari"/>
              </a:rPr>
              <a:t>आधिकारिक घोषणा एवं प्रामाणिकता पत्र (Official Declaration)</a:t>
            </a:r>
            <a:r>
              <a:rPr sz="850">
                <a:solidFill>
                  <a:srgbClr val="8C4E00"/>
                </a:solidFill>
                <a:latin typeface="Noto Sans Devanagari"/>
              </a:rPr>
              <a:t>  —  सत्यापित संचिका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000" y="6876000"/>
            <a:ext cx="6768000" cy="14400"/>
          </a:xfrm>
          <a:prstGeom prst="rect">
            <a:avLst/>
          </a:prstGeom>
          <a:solidFill>
            <a:srgbClr val="8C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6000" y="6930000"/>
            <a:ext cx="6768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000" y="6948000"/>
            <a:ext cx="6624000" cy="576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r>
              <a:rPr sz="780">
                <a:solidFill>
                  <a:srgbClr val="0A0A0A"/>
                </a:solidFill>
                <a:latin typeface="Noto Sans Devanagari"/>
              </a:rPr>
              <a:t>यह प्रमाणित किया जाता है कि </a:t>
            </a:r>
            <a:r>
              <a:rPr sz="760">
                <a:solidFill>
                  <a:srgbClr val="1A1A1A"/>
                </a:solidFill>
                <a:latin typeface="Noto Sans Devanagari"/>
              </a:rPr>
              <a:t>इस कॉरपोरेट पोर्टफोलियो संचिका में अंकित समस्त संस्थागत विवरण, शासकीय इम्पैनलमेंट, 24+ क्लाइंट सूचियां, तकनीकी उपकरण, वित्तीय साख एवं उत्पादन सांख्यिकी बी.एस.आर. फिल्मस के वास्तविक, अधिकृत अभिलेखों एवं वैध अनुबंधों पर पूर्णतः आधारित हैं।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6000" y="7614000"/>
            <a:ext cx="6768000" cy="828000"/>
          </a:xfrm>
          <a:prstGeom prst="rect">
            <a:avLst/>
          </a:prstGeom>
          <a:solidFill>
            <a:srgbClr val="FAF2E3"/>
          </a:solidFill>
          <a:ln w="19050">
            <a:solidFill>
              <a:srgbClr val="8C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eal_300d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0" y="7668000"/>
            <a:ext cx="720000" cy="720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68000" y="7632000"/>
            <a:ext cx="5688000" cy="792000"/>
          </a:xfrm>
          <a:prstGeom prst="rect">
            <a:avLst/>
          </a:prstGeom>
          <a:noFill/>
        </p:spPr>
        <p:txBody>
          <a:bodyPr wrap="square" tIns="36000" bIns="36000" lIns="36000" rIns="36000">
            <a:spAutoFit/>
          </a:bodyPr>
          <a:lstStyle/>
          <a:p>
            <a:pPr algn="r"/>
            <a:r>
              <a:rPr sz="740">
                <a:solidFill>
                  <a:srgbClr val="555555"/>
                </a:solidFill>
                <a:latin typeface="Noto Sans Devanagari"/>
              </a:rPr>
              <a:t>प्रमाणित: संचिका में अंकित समस्त विवरण बी.एस.आर. फिल्मस के अधिकृत अभिलेखों एवं अनुबंधों पर आधारित हैं।
</a:t>
            </a:r>
            <a:r>
              <a:rPr sz="1300">
                <a:solidFill>
                  <a:srgbClr val="8C4E00"/>
                </a:solidFill>
                <a:latin typeface="Noto Sans Devanagari"/>
              </a:rPr>
              <a:t>बी.एस.आर. फिल्मस
</a:t>
            </a:r>
            <a:r>
              <a:rPr sz="780">
                <a:solidFill>
                  <a:srgbClr val="0A0A0A"/>
                </a:solidFill>
                <a:latin typeface="Noto Sans Devanagari"/>
              </a:rPr>
              <a:t>अधिकृत हस्ताक्षरकर्ता • संस्थापक एवं प्रबंध निर्देशक • रायपुर, छत्तीसगढ़ (भारत)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000" y="10368000"/>
            <a:ext cx="6768000" cy="10800"/>
          </a:xfrm>
          <a:prstGeom prst="rect">
            <a:avLst/>
          </a:prstGeom>
          <a:solidFill>
            <a:srgbClr val="D6C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6000" y="10404000"/>
            <a:ext cx="5040000" cy="1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780" b="1">
                <a:solidFill>
                  <a:srgbClr val="8C4E00"/>
                </a:solidFill>
                <a:latin typeface="Noto Sans Devanagari"/>
              </a:defRPr>
            </a:pPr>
            <a:r>
              <a:t>बी.एस.आर. फिल्मस • आधिकारिक कॉरपोरेट प्रोफाइल • www.bsrfilms.com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80000" y="10404000"/>
            <a:ext cx="1584000" cy="1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780" b="1">
                <a:solidFill>
                  <a:srgbClr val="0A0A0A"/>
                </a:solidFill>
                <a:latin typeface="Noto Sans Devanagari"/>
              </a:defRPr>
            </a:pPr>
            <a:r>
              <a:t>पृष्ठ 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